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8931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AI-Assisted Candidate Ranking System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INDIA.RUNS Data &amp; AI Challenge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Raja Mandal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Python • Pandas • Scikit-learn • TF-IDF • NLP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Intelligent Candidate Discovery &amp; Ranking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&amp; Solution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FFE8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Resume Screening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receive thousands of resumes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is time-consuming, inefficient, and inconsistent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of missing qualified candidates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097280"/>
            <a:ext cx="4206240" cy="1828800"/>
          </a:xfrm>
          <a:prstGeom prst="roundRect">
            <a:avLst>
              <a:gd name="adj" fmla="val 5000"/>
            </a:avLst>
          </a:prstGeom>
          <a:solidFill>
            <a:srgbClr val="E8F8E8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2344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63440" y="16916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AI-assisted ranking system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job requirements semantically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100,000 candidates in seconds
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top 100 with explainable reasoning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Resources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7955280" cy="2139696"/>
        </p:xfrm>
        <a:graphic>
          <a:graphicData uri="http://schemas.openxmlformats.org/drawingml/2006/table">
            <a:tbl>
              <a:tblPr/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77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Component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12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Total Candidates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100,000 profiles in JSONL format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Job Role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Senior AI Engineer (Founding Team)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Job Description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Comprehensive DOCX with requirements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Submission Format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CSV with rank, score, and reasoning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Schema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JSON schema defining candidate structure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786471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725893" y="75789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62456" y="120850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01859" y="1498648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0A3B8"/>
          </a:solidFill>
          <a:ln/>
        </p:spPr>
      </p:sp>
      <p:sp>
        <p:nvSpPr>
          <p:cNvPr id="9" name="Text 7"/>
          <p:cNvSpPr/>
          <p:nvPr/>
        </p:nvSpPr>
        <p:spPr>
          <a:xfrm>
            <a:off x="798343" y="1484361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Preprocessing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62456" y="193255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94825" y="2205110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188845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Vectorizer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62456" y="262802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1859" y="2894428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0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768096" y="2892669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62456" y="3313821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859" y="3582866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01859" y="357319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Engine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62456" y="4029515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1859" y="4313506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0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431350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 rot="16200000">
            <a:off x="2537108" y="4404946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117400" y="4291965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3117400" y="4269105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Ranking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 rot="16200000">
            <a:off x="4763672" y="441373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250766" y="4290646"/>
            <a:ext cx="1645920" cy="411480"/>
          </a:xfrm>
          <a:prstGeom prst="roundRect">
            <a:avLst>
              <a:gd name="adj" fmla="val 17778"/>
            </a:avLst>
          </a:prstGeom>
          <a:solidFill>
            <a:srgbClr val="00A3B8"/>
          </a:solidFill>
          <a:ln/>
        </p:spPr>
      </p:sp>
      <p:sp>
        <p:nvSpPr>
          <p:cNvPr id="27" name="Text 25"/>
          <p:cNvSpPr/>
          <p:nvPr/>
        </p:nvSpPr>
        <p:spPr>
          <a:xfrm>
            <a:off x="5115364" y="4290646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CSV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33567" y="12801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Components: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737083" y="1834293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Job description + 100K candidate profiles</a:t>
            </a:r>
            <a:endParaRPr lang="en-US" sz="12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Processing: Hybrid scoring (rule-based + semantic)</a:t>
            </a:r>
            <a:endParaRPr lang="en-US" sz="1200" dirty="0"/>
          </a:p>
          <a:p>
            <a:pPr marL="171450" indent="-171450"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Ranked top 100 with explanations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Every score is transparent and auditable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A3B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JSONL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69948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221992" y="1371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A3B8"/>
          </a:solidFill>
          <a:ln/>
        </p:spPr>
      </p:sp>
      <p:sp>
        <p:nvSpPr>
          <p:cNvPr id="9" name="Text 7"/>
          <p:cNvSpPr/>
          <p:nvPr/>
        </p:nvSpPr>
        <p:spPr>
          <a:xfrm>
            <a:off x="2221992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Fields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552444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895344" y="1371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A3B8"/>
          </a:solidFill>
          <a:ln/>
        </p:spPr>
      </p:sp>
      <p:sp>
        <p:nvSpPr>
          <p:cNvPr id="12" name="Text 10"/>
          <p:cNvSpPr/>
          <p:nvPr/>
        </p:nvSpPr>
        <p:spPr>
          <a:xfrm>
            <a:off x="3895344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225796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568696" y="1371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A3B8"/>
          </a:solidFill>
          <a:ln/>
        </p:spPr>
      </p:sp>
      <p:sp>
        <p:nvSpPr>
          <p:cNvPr id="15" name="Text 13"/>
          <p:cNvSpPr/>
          <p:nvPr/>
        </p:nvSpPr>
        <p:spPr>
          <a:xfrm>
            <a:off x="5568696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99148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242048" y="13716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0A3B8"/>
          </a:solidFill>
          <a:ln/>
        </p:spPr>
      </p:sp>
      <p:sp>
        <p:nvSpPr>
          <p:cNvPr id="18" name="Text 16"/>
          <p:cNvSpPr/>
          <p:nvPr/>
        </p:nvSpPr>
        <p:spPr>
          <a:xfrm>
            <a:off x="7242048" y="1371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Processing Steps: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26517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100,000 candidate profiles from JSONL dataset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and flattened nested JSON structures into DataFrames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job description from DOCX to searchable text format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unified 'tags' field combining all searchable text fields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Engineering: The Tags Field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F0E8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Field Formula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Summary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Skills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Current Title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Current Company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Converted to lowercase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280160"/>
            <a:ext cx="4206240" cy="2194560"/>
          </a:xfrm>
          <a:prstGeom prst="roundRect">
            <a:avLst>
              <a:gd name="adj" fmla="val 4167"/>
            </a:avLst>
          </a:prstGeom>
          <a:solidFill>
            <a:srgbClr val="E8F8E8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783080"/>
            <a:ext cx="3657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structured profile data into searchable text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keyword matching with job description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efficient semantic similarity calculations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skills, experience, and role alignment in one field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Scoring: Four Components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FFE8E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Score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target AI/ML skills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job description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697480"/>
            <a:ext cx="1554480" cy="32004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97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14600" y="12801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E8F8E8"/>
          </a:solidFill>
          <a:ln/>
        </p:spPr>
      </p:sp>
      <p:sp>
        <p:nvSpPr>
          <p:cNvPr id="11" name="Text 9"/>
          <p:cNvSpPr/>
          <p:nvPr/>
        </p:nvSpPr>
        <p:spPr>
          <a:xfrm>
            <a:off x="265176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Score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06040" y="1737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years of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experience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2697480"/>
            <a:ext cx="1554480" cy="32004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2697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2801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E8E8F8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Score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737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 relevant job titles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AI/ML Engineer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09160" y="2697480"/>
            <a:ext cx="1554480" cy="32004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2697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1280160"/>
            <a:ext cx="1828800" cy="2103120"/>
          </a:xfrm>
          <a:prstGeom prst="roundRect">
            <a:avLst>
              <a:gd name="adj" fmla="val 5000"/>
            </a:avLst>
          </a:prstGeom>
          <a:solidFill>
            <a:srgbClr val="FFF8E8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13716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Score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20840" y="17373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Recognizes top tech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2697480"/>
            <a:ext cx="1554480" cy="32004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6974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TF-IDF? Engineering Decision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8F8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captures term importance: measures word frequency in a profile vs. rarity across all profiles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TF-IDF Over Alternatives: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420624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Lightweight &amp; Efficient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heavy models or GPU required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Scales Well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100K profiles in seconds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 Computation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is O(n)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2240280"/>
            <a:ext cx="4206240" cy="16459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77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Production Ready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scikit-learn (proven, stable)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Interpretable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 by recruiters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Cost Effective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infrastructure needed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Scoring: Combining Both Approaches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4206240" cy="4114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4023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Scoring (70%)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20624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288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explainable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exact skill/title matching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and deterministic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can audit every decision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480560" y="1280160"/>
            <a:ext cx="4206240" cy="4114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1298448"/>
            <a:ext cx="402336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Similarity (30%)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80560" y="1691640"/>
            <a:ext cx="420624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semantic meaning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related concepts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synonyms and variations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talented candidates using different terminology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8F8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73552"/>
            <a:ext cx="78638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 Score = (70% × Rule-Based) + (30% × TF-IDF Similarity × 10)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2029968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Challenge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Solution</a:t>
                      </a:r>
                      <a:endParaRPr lang="en-US" sz="11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Nested JSON Structure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Flattened into structured columns using Pandas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100K Candidate Profiles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Used vectorized Pandas operations, avoided loops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Multiple Skill Formats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Extracted skill names from dictionaries into unified field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Resume Matching Complexity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Combined rule-based and semantic similarity scoring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Score Normalization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Applied Min-Max scaling to 0.8-1.0 range for clarity</a:t>
                      </a:r>
                      <a:endParaRPr lang="en-US" sz="1000" dirty="0"/>
                    </a:p>
                  </a:txBody>
                  <a:tcPr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Metrics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Pipeline Results: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Candidates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57400" y="21488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2377440"/>
            <a:ext cx="2834640" cy="45720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3774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57400" y="28803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8992" y="3070274"/>
            <a:ext cx="246888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Scoring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361188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36432" y="3833446"/>
            <a:ext cx="1990578" cy="45720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3840480"/>
            <a:ext cx="20468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100 Recommendations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0" y="12801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Processed: 100,000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Recommendations: Top 100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Time: &lt;30 seconds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Explainable rankings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Range: 0.8 to 1.0 (normalized)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Hybrid (70% rules + 30% semantic)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Explainability: Building Recruiter Trust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E8F8E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score derives from explicit rules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 understand why candidate ranked high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132588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E8F8E8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&amp; Justification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1691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explanations for each candidate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skills, experience, and alignment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E8E8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Rankings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inputs always produce same outputs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randomness, fully deterministic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377440"/>
            <a:ext cx="4023360" cy="914400"/>
          </a:xfrm>
          <a:prstGeom prst="roundRect">
            <a:avLst>
              <a:gd name="adj" fmla="val 10000"/>
            </a:avLst>
          </a:prstGeom>
          <a:solidFill>
            <a:srgbClr val="E8E8F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Decisions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743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Judges can trace every score back to source
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black-box predictions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Recruiters need to trust the system. Explainability builds confidence.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 &amp; Roadmap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2588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99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Transformers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TF-IDF with BERT embeddings for deeper semantic understanding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480560" y="132588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399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Databases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66344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FAISS/Pinecone for scalable similarity search across millions of profiles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Learning-to-Rank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recruiter feedback to train ranking models that improve over time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480560" y="228600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Dashboard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6517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as Streamlit/FastAPI web app for interactive candidate search and filtering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319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Optimization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in location, salary, work mode, and skill proficiency levels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480560" y="3246120"/>
            <a:ext cx="4206240" cy="868680"/>
          </a:xfrm>
          <a:prstGeom prst="roundRect">
            <a:avLst>
              <a:gd name="adj" fmla="val 8421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319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6118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 new candidate profiles and immediately rank against all open positions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0" y="731520"/>
            <a:ext cx="73152" cy="4411980"/>
          </a:xfrm>
          <a:prstGeom prst="rect">
            <a:avLst/>
          </a:prstGeom>
          <a:solidFill>
            <a:srgbClr val="00A3B8"/>
          </a:solidFill>
          <a:ln/>
        </p:spPr>
      </p:sp>
      <p:sp>
        <p:nvSpPr>
          <p:cNvPr id="5" name="Text 3"/>
          <p:cNvSpPr/>
          <p:nvPr/>
        </p:nvSpPr>
        <p:spPr>
          <a:xfrm>
            <a:off x="513470" y="868680"/>
            <a:ext cx="74980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ranked 100,000 candidates in seconds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>
              <a:solidFill>
                <a:srgbClr val="1E3A5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rule-based precision (70%) with semantic flexibility (30%)</a:t>
            </a:r>
            <a:endParaRPr lang="en-US" sz="1200" dirty="0"/>
          </a:p>
          <a:p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explainable recommendations with ranking, score, and reasoning</a:t>
            </a:r>
            <a:endParaRPr lang="en-US" sz="1200" dirty="0"/>
          </a:p>
          <a:p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scalable, production-ready solution suitable for AI-assisted recruitment</a:t>
            </a:r>
            <a:endParaRPr lang="en-US" sz="1200" dirty="0"/>
          </a:p>
          <a:p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scoring enables recruiter trust and audit-friendly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6862" y="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086729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rgbClr val="F4A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86862" y="20257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AI-assisted ranking: rule-based precision + semantic understanding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86862" y="25550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AI: every recommendation is transparent and auditable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86862" y="310368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Production-ready: scales from 100K to millions of candidates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6862" y="365232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implementation in your recruitment pipeline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901</Words>
  <Application>Microsoft Office PowerPoint</Application>
  <PresentationFormat>On-screen Show (16:9)</PresentationFormat>
  <Paragraphs>213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Candidate Ranking System</dc:title>
  <dc:subject>PptxGenJS Presentation</dc:subject>
  <dc:creator>Raja Mandal</dc:creator>
  <cp:lastModifiedBy>Raja Mandal</cp:lastModifiedBy>
  <cp:revision>2</cp:revision>
  <dcterms:created xsi:type="dcterms:W3CDTF">2026-06-27T15:12:00Z</dcterms:created>
  <dcterms:modified xsi:type="dcterms:W3CDTF">2026-06-27T18:56:27Z</dcterms:modified>
</cp:coreProperties>
</file>